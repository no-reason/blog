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2" r:id="rId12"/>
    <p:sldId id="263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93" r:id="rId32"/>
    <p:sldId id="294" r:id="rId33"/>
    <p:sldId id="288" r:id="rId34"/>
    <p:sldId id="289" r:id="rId35"/>
    <p:sldId id="292" r:id="rId36"/>
    <p:sldId id="290" r:id="rId37"/>
    <p:sldId id="291" r:id="rId38"/>
    <p:sldId id="286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7CA2A-C0E0-EE86-08B8-F787CE241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1E3248-BF28-6AD4-B268-092D4EB93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72A9A0-6D0D-FAD1-44BD-93627268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F6F750-D689-735B-1CB1-EE8DCBC9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91D2A2-0821-2277-6721-B71C4109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8527C-C6F7-4AFE-8170-62957C4E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46713-ED1D-F726-C2B8-AEB0C16D2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0268DA-B723-0FEA-A8A1-E6710E12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86AA92-F1D3-31A3-533D-218E06E1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3D4909-40D4-7174-F6C1-C8E4BEEC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B5703-2D69-5BC2-9C27-270B7BA4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E364A9-ECA7-5AD9-29C1-CEEECF7BF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6BD70A-3FED-34DB-D0DD-3A65D2F4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95BBA-6AF8-B0AF-F03D-B34960DA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70560-FD93-F871-249E-9D50F8E3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34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B83A8-CCDC-5C0A-DA71-0F443675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E5BBC-FC8C-F09F-ABE6-0D5B09A4F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C7CCE3-AF29-54E6-2671-CBA4C644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B7635E-2824-D631-CFFD-83E017EE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3E8895-A0BD-7B10-2CFD-E5E44BFC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6D47A0-D266-DFF4-F074-1D050AD0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20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67724-4A0B-FFA4-13CA-B618D87C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EC34D-34E2-9AC5-3FE2-D4AE0FB29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CD8AC0-1FB8-D661-6A4B-627C2A117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1C2419-A68A-8E60-1AA4-25F5C11EF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EE5FCA-8AFA-6BB9-2D0B-CC8A05E35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0957DE-5B10-9837-31BE-0745D483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36298F-411A-9CEF-B057-9937DEB3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E90B2F-2242-48AE-2B40-D998F5947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90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5F17D-E672-42BB-7A3B-105E1403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C49E3A-0A41-F29D-209F-652637E5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2B78F8-68D7-A312-5378-0D8A9C14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099F67-7F93-676B-CA9D-28D686EB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73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4655EF-D143-8F70-1F8E-4DE4A8D0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B20AAF-0A35-1411-1141-2DD57F8A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005653-54DE-0992-BFA2-9AF6D759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84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93569-430B-E80E-445F-01094033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DC7668-6227-3728-DF80-D593A9B7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BF7479-3120-6F87-AC66-5E7FFAC56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16737-F17A-FC59-41B7-219D7F19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32953D-A186-C050-38FB-AD657FDC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FC5568-3DE1-D916-C958-24659377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18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47369-EC6F-ACC2-105C-45DBB878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469CFC-ABA8-080B-70F2-D3F004916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374CFE-0747-CD7F-A15B-8179DF069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1BE4B3-BBFD-C317-CCC9-2263A56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C16B07-900A-814C-056D-26047439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D46E38-FEC7-9038-DB84-8AE3C916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01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4FDAD-93B0-C998-7857-742A7CA5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059D6E-591A-6ADE-6946-8BC780D1F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EEE036-42F5-82A4-1563-76370EA3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C374D-25B6-25D4-9846-2C438E0C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CE534-9762-0623-8FF1-6101D64A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67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5C03BD-056D-9FF5-5B36-96A69EDF9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E0C1AC-8401-7B3D-BD40-CD1796F9F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97C7B0-9386-363C-8F6F-0A6B1B04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2060D9-4800-A620-EF82-CC104DEF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1742CA-4689-525C-BB89-909F5C03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34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695AE3-EEA5-7481-BF86-21394CB6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BC0EDC-B124-3100-B88C-0D4A9ABB1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36A11F-0C14-E9E7-295F-53DE32DC4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0B97-082B-4B84-A1A7-52DDE79D93E5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06ADE8-EDE5-07A7-D327-25C1C5DAA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059CA4-7DD6-6866-9178-ACFC13A87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59C9B-5151-4695-8F9A-6B15BC132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62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4CCF1-8789-8C92-D488-C9998327FE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一元积分</a:t>
            </a:r>
            <a:r>
              <a:rPr lang="en-US" altLang="zh-CN" dirty="0"/>
              <a:t>2026</a:t>
            </a:r>
            <a:r>
              <a:rPr lang="zh-CN" altLang="en-US" dirty="0"/>
              <a:t>之二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4ADDF0-6150-A3F3-635E-A7F6983B55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32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B618B-7F45-670D-35D9-620E2C81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C35C35-B095-1D86-13E0-C68D62ED9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dirty="0"/>
                  <a:t>连续且取值为正，设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易知，存在唯一的划分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&lt;⋯&lt;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/>
                  <a:t>，使得在每一段上函数积分都相等，即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求极限：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C35C35-B095-1D86-13E0-C68D62ED9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808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4D61C-694D-0E6B-6237-D5347191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71CFF8-3F84-3CDC-0673-16B2125EE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解答：</a:t>
                </a:r>
                <a:r>
                  <a:rPr lang="zh-CN" altLang="zh-CN" dirty="0"/>
                  <a:t>令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𝑘𝐴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𝑘𝐴</m:t>
                                    </m:r>
                                  </m:num>
                                  <m:den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CN" i="1" dirty="0"/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i="1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𝑑𝐹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altLang="zh-CN" i="1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571CFF8-3F84-3CDC-0673-16B2125EE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00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59177-6090-B814-14E1-BFA1F260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1D1B2F-C92A-138D-C729-F9F57149D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/>
                  <a:t>连续，且以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为周期，试证：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ln</m:t>
                                          </m:r>
                                        </m:fName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func>
                                    </m:e>
                                  </m:d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en-US" dirty="0"/>
                  <a:t>要点：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∼</m:t>
                    </m:r>
                    <m:func>
                      <m:funcPr>
                        <m:ctrlPr>
                          <a:rPr lang="en-US" altLang="zh-C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1D1B2F-C92A-138D-C729-F9F57149D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88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EEDC7-2D4F-B4DD-C55A-7E998ED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52C54E-085F-2574-4074-53B9BCD8E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func>
                                  </m:e>
                                </m:d>
                              </m:num>
                              <m:den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nary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func>
                              </m:e>
                            </m:d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func>
                              </m:e>
                            </m:d>
                          </m:e>
                        </m:nary>
                      </m:e>
                    </m:func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</m:sub>
                          <m:sup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func>
                          </m:sup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func>
                              </m:e>
                            </m:d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i="1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</m:sub>
                          <m:sup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func>
                          </m:sup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52C54E-085F-2574-4074-53B9BCD8E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3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F065816-37EB-EB3B-EA72-D106C767E2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1534" y="763571"/>
                <a:ext cx="10392266" cy="5413392"/>
              </a:xfrm>
            </p:spPr>
            <p:txBody>
              <a:bodyPr>
                <a:normAutofit/>
              </a:bodyPr>
              <a:lstStyle/>
              <a:p>
                <a:r>
                  <a:rPr lang="zh-CN" altLang="zh-CN" dirty="0"/>
                  <a:t>当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/>
                  <a:t>充分大时，由于区间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zh-CN" altLang="zh-CN" dirty="0"/>
                  <a:t>长度趋于</a:t>
                </a:r>
                <a:r>
                  <a:rPr lang="en-US" altLang="zh-CN" dirty="0"/>
                  <a:t>0</a:t>
                </a:r>
                <a:r>
                  <a:rPr lang="zh-CN" altLang="zh-CN" dirty="0"/>
                  <a:t>，故由连续周期函数的一致连续性可知，在区间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zh-CN" altLang="zh-CN" dirty="0"/>
                  <a:t>上，有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r>
                  <a:rPr lang="zh-CN" altLang="zh-CN" dirty="0"/>
                  <a:t>严格来说，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&gt;0,∀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&gt;0,∃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zh-CN" altLang="zh-CN" dirty="0"/>
                  <a:t>，都有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nary>
                              <m:nary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func>
                              </m:sub>
                              <m:sup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func>
                              </m:sup>
                              <m:e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>
                                                <a:latin typeface="Cambria Math" panose="02040503050406030204" pitchFamily="18" charset="0"/>
                                              </a:rPr>
                                              <m:t>ln</m:t>
                                            </m:r>
                                          </m:fName>
                                          <m:e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func>
                                      </m:e>
                                    </m:d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nary>
                          </m:e>
                        </m:nary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zh-CN" dirty="0"/>
              </a:p>
              <a:p>
                <a:r>
                  <a:rPr lang="zh-CN" altLang="zh-CN" dirty="0"/>
                  <a:t>最后由周期函数积分性质可知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unc>
                          <m:func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F065816-37EB-EB3B-EA72-D106C767E2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1534" y="763571"/>
                <a:ext cx="10392266" cy="5413392"/>
              </a:xfrm>
              <a:blipFill>
                <a:blip r:embed="rId2"/>
                <a:stretch>
                  <a:fillRect l="-1056" t="-1914" r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585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8EB53-80D9-60A2-548A-42B9327C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67FBB6-B66C-2D76-5DB1-ED310E7C49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求积分的极限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𝑛𝑥</m:t>
                                      </m:r>
                                    </m:e>
                                  </m:func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67FBB6-B66C-2D76-5DB1-ED310E7C49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4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6FCE-F8EB-DDE7-0E93-C1EDDE49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DA841-2310-2B46-F4DC-C34940AB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F31CF-3916-987B-5CC5-4A5509F0B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求积分的极限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𝑛𝑥</m:t>
                                      </m:r>
                                    </m:e>
                                  </m:func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分析：</a:t>
                </a:r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zh-CN" altLang="zh-CN" dirty="0"/>
                  <a:t>待定</a:t>
                </a:r>
                <a:r>
                  <a:rPr lang="en-US" altLang="zh-CN" dirty="0"/>
                  <a:t>. </a:t>
                </a:r>
                <a:r>
                  <a:rPr lang="zh-CN" altLang="zh-CN" dirty="0"/>
                  <a:t>分解积分项：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𝑛𝑥</m:t>
                                  </m:r>
                                </m:e>
                              </m:func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/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/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/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截断</a:t>
                </a:r>
                <a:r>
                  <a:rPr lang="zh-CN" altLang="zh-CN" dirty="0"/>
                  <a:t>，对有限部分用黎曼引理，对无限部分用高阶量进行控制</a:t>
                </a:r>
                <a:r>
                  <a:rPr lang="en-US" altLang="zh-CN" dirty="0"/>
                  <a:t>.</a:t>
                </a:r>
                <a:endParaRPr lang="zh-CN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DF31CF-3916-987B-5CC5-4A5509F0B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50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AABE3-E3F0-F68C-230F-E7F454C9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A2227C-BA55-6691-6BC9-09C1EFF58E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无穷远端：分析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𝑛𝑥</m:t>
                                  </m:r>
                                </m:e>
                              </m:func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对于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，有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A2227C-BA55-6691-6BC9-09C1EFF58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78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393B8-998A-60A0-397C-D85E5F49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D733BF-63B7-8396-FD78-E08329D9A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𝑛𝑥</m:t>
                                </m:r>
                              </m:e>
                            </m:func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𝑛𝑥</m:t>
                                </m:r>
                              </m:e>
                            </m:func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𝑛𝑥</m:t>
                            </m:r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𝑑𝑛𝑥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𝑛𝑟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func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综合上述即可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D733BF-63B7-8396-FD78-E08329D9A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33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6EF95-B108-4CB0-9E53-61B833D2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黎曼引理的最一般形式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06A83A-A6C3-BA4D-12C8-AC34AD3067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dirty="0"/>
                  <a:t>为可测子集，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/>
                  <a:t>是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zh-CN" dirty="0"/>
                  <a:t>上的</a:t>
                </a:r>
                <a:r>
                  <a:rPr lang="en-US" altLang="zh-CN" dirty="0"/>
                  <a:t>Lebesgue</a:t>
                </a:r>
                <a:r>
                  <a:rPr lang="zh-CN" altLang="zh-CN" dirty="0"/>
                  <a:t>可积函数，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/>
                  <a:t>是定义在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dirty="0"/>
                  <a:t>上的以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dirty="0"/>
                  <a:t>为周期的有界可测函数，则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supHide m:val="on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  <m:sup/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𝑡𝑥</m:t>
                                  </m:r>
                                </m:e>
                              </m:d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黎曼可积函数的情形，</a:t>
                </a:r>
                <a:r>
                  <a:rPr lang="zh-CN" altLang="zh-CN" dirty="0"/>
                  <a:t>证明提要：</a:t>
                </a:r>
              </a:p>
              <a:p>
                <a:r>
                  <a:rPr lang="zh-CN" altLang="zh-CN" dirty="0"/>
                  <a:t>可积函数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/>
                  <a:t>可由阶梯函数逼近，故仅需对阶梯函数进行验证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进一步，由积分的线性性质，仅需对特征函数进行验证即可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06A83A-A6C3-BA4D-12C8-AC34AD306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61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29FF2-B010-041D-A8F3-38C2A49B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30D83C-B84E-5EDF-FB35-2A4873929A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zh-CN" dirty="0"/>
                  <a:t>为多项式，则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可被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zh-CN" dirty="0"/>
                  <a:t>除尽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230D83C-B84E-5EDF-FB35-2A4873929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52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8690-42F0-EF8A-9AB5-ADFB5E20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60ABB-D2C8-C133-A820-E7B6B630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277E55-007F-D5F5-C24B-E5073227D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zh-CN" dirty="0"/>
                  <a:t>为多项式，则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可被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zh-CN" dirty="0"/>
                  <a:t>除尽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证明：无难度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由积分的线性性质，仅需对四个多项式都是单项式的情形进行验证即可，而这是显然的</a:t>
                </a:r>
                <a:r>
                  <a:rPr lang="en-US" altLang="zh-CN" dirty="0"/>
                  <a:t>. 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277E55-007F-D5F5-C24B-E5073227D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618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F7447-F337-F936-2CE4-BBF6082F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2009</a:t>
            </a:r>
            <a:r>
              <a:rPr lang="zh-CN" altLang="zh-CN" dirty="0"/>
              <a:t>年第一届全国大学生数学竞赛数学类第五题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203C38-C4EC-8E9F-78AB-D424BA49C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𝑛𝑥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zh-CN" dirty="0"/>
                  <a:t>，证明：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zh-CN" altLang="zh-CN" dirty="0"/>
                  <a:t>发散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203C38-C4EC-8E9F-78AB-D424BA49C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361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FC61-124C-5431-A5D2-0FE546AE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974F1-2C47-E64D-7A70-1F834FEF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2009</a:t>
            </a:r>
            <a:r>
              <a:rPr lang="zh-CN" altLang="zh-CN" dirty="0"/>
              <a:t>年第一届全国大学生数学竞赛数学类第五题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A56F50-31D4-B125-C69C-89077DC037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𝑛𝑥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zh-CN" dirty="0"/>
                  <a:t>，证明：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zh-CN" altLang="zh-CN" dirty="0"/>
                  <a:t>发散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r>
                  <a:rPr lang="zh-CN" altLang="en-US" dirty="0"/>
                  <a:t>此题无难度</a:t>
                </a:r>
                <a:endParaRPr lang="en-US" altLang="zh-CN" dirty="0"/>
              </a:p>
              <a:p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上，存在常数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b="0" dirty="0">
                    <a:latin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func>
                      <m:func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𝑛𝑥</m:t>
                                        </m:r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𝑛𝑥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A56F50-31D4-B125-C69C-89077DC037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502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5B171-6EA0-34A9-7630-28F67F40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571D39-376B-49B2-B211-324CE189C1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𝑛𝑥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zh-CN" altLang="en-US" dirty="0"/>
                  <a:t> 收敛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综上，存在常数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𝐾𝑛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故级数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zh-CN" altLang="en-US" dirty="0"/>
                  <a:t>发散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571D39-376B-49B2-B211-324CE189C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81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142B7-188C-D1B5-3E69-976AE5AF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F0EBED-08E5-5AC2-4693-A9A87CBAD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3905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0,+∞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0,+∞</m:t>
                        </m:r>
                      </m:e>
                    </m:d>
                  </m:oMath>
                </a14:m>
                <a:r>
                  <a:rPr lang="zh-CN" altLang="zh-CN" dirty="0"/>
                  <a:t>为连续函数，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,∀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dirty="0"/>
                  <a:t>. </a:t>
                </a:r>
                <a:r>
                  <a:rPr lang="zh-CN" altLang="zh-CN" dirty="0"/>
                  <a:t>试证：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=1−4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并由此证明：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EF0EBED-08E5-5AC2-4693-A9A87CBAD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3905"/>
                <a:ext cx="10515600" cy="4351338"/>
              </a:xfrm>
              <a:blipFill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123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377BD-0116-09BF-F3FA-3DCE9915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A983F1-BB9B-7C57-1524-13AA166F0E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解答：易证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/>
                  <a:t>单调递增，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r>
                  <a:rPr lang="zh-CN" altLang="zh-CN" dirty="0"/>
                  <a:t>用</a:t>
                </a:r>
                <a:r>
                  <a:rPr lang="en-US" altLang="zh-CN" dirty="0"/>
                  <a:t>Riemann-</a:t>
                </a:r>
                <a:r>
                  <a:rPr lang="en-US" altLang="zh-CN" dirty="0" err="1"/>
                  <a:t>Stieltjes</a:t>
                </a:r>
                <a:r>
                  <a:rPr lang="zh-CN" altLang="zh-CN" dirty="0"/>
                  <a:t>积分的分部积分公式：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=1−4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r>
                  <a:rPr lang="zh-CN" altLang="zh-CN" dirty="0"/>
                  <a:t>另一方面：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zh-CN" dirty="0"/>
              </a:p>
              <a:p>
                <a:r>
                  <a:rPr lang="zh-CN" altLang="zh-CN" dirty="0"/>
                  <a:t>其中第二个式子用换元：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A983F1-BB9B-7C57-1524-13AA166F0E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068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63DF1-EC3D-0861-BDE6-0BB85753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611FE1-956E-63F5-384F-1B1377BA0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下面给出估计，由柯西不等式：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1−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=4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4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zh-CN" altLang="zh-CN" dirty="0"/>
              </a:p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zh-CN" altLang="zh-CN" dirty="0"/>
                  <a:t>，故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≤4</m:t>
                    </m:r>
                    <m:rad>
                      <m:radPr>
                        <m:deg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/7</m:t>
                        </m:r>
                      </m:e>
                    </m:rad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+1≤0</m:t>
                    </m:r>
                  </m:oMath>
                </a14:m>
                <a:endParaRPr lang="zh-CN" altLang="zh-CN" dirty="0"/>
              </a:p>
              <a:p>
                <a:r>
                  <a:rPr lang="zh-CN" altLang="zh-CN" dirty="0"/>
                  <a:t>解得：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15−</m:t>
                        </m:r>
                        <m:rad>
                          <m:radPr>
                            <m:degHide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176</m:t>
                            </m:r>
                          </m:e>
                        </m:rad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US" altLang="zh-CN" dirty="0"/>
                  <a:t>. 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611FE1-956E-63F5-384F-1B1377BA0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667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666EC-2C94-3E9D-1D62-E27AAFFB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C92E68-2647-FA7A-C37C-51905D5851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试证：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C92E68-2647-FA7A-C37C-51905D585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923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2887-71BC-B3EA-1B5D-F1E8B116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9E89F-E198-BCC8-3EC1-F5A3D8F7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0D23EE-F8FC-F628-2178-DE77A1F8A0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试证：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分析：这些积分可以理解为内积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故可转换为线性代数问题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0D23EE-F8FC-F628-2178-DE77A1F8A0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020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B458B47-FBAA-6E23-5C6B-F020AB9267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6692" y="895546"/>
                <a:ext cx="10463753" cy="5712644"/>
              </a:xfrm>
            </p:spPr>
            <p:txBody>
              <a:bodyPr>
                <a:normAutofit/>
              </a:bodyPr>
              <a:lstStyle/>
              <a:p>
                <a:r>
                  <a:rPr lang="zh-CN" altLang="zh-CN" dirty="0"/>
                  <a:t>证明：在函数内积空间上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⋅1=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zh-CN" dirty="0"/>
              </a:p>
              <a:p>
                <a:r>
                  <a:rPr lang="zh-CN" altLang="en-US" dirty="0"/>
                  <a:t>问题相当于</a:t>
                </a:r>
                <a:r>
                  <a:rPr lang="zh-CN" altLang="zh-CN" dirty="0"/>
                  <a:t>在这两个限制条件下，求范数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CN" altLang="zh-CN" dirty="0"/>
                  <a:t>的最小值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由内积的性质，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zh-CN" altLang="zh-CN" dirty="0"/>
                  <a:t>取到最小值时，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/>
                  <a:t>在由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张成的线性子空间中</a:t>
                </a:r>
                <a:r>
                  <a:rPr lang="en-US" altLang="zh-CN" dirty="0"/>
                  <a:t>. </a:t>
                </a:r>
                <a:r>
                  <a:rPr lang="zh-CN" altLang="zh-CN" dirty="0"/>
                  <a:t>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张成的线性子空间中，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构成一</a:t>
                </a:r>
                <a:r>
                  <a:rPr lang="zh-CN" altLang="en-US" dirty="0"/>
                  <a:t>组正交</a:t>
                </a:r>
                <a:r>
                  <a:rPr lang="zh-CN" altLang="zh-CN" dirty="0"/>
                  <a:t>基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zh-CN" dirty="0"/>
                  <a:t>投影到由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张成的线性子空间中，投影向量</a:t>
                </a:r>
                <a:r>
                  <a:rPr lang="en-US" altLang="zh-CN" dirty="0"/>
                  <a:t>(</a:t>
                </a:r>
                <a:r>
                  <a:rPr lang="zh-CN" altLang="zh-CN" dirty="0"/>
                  <a:t>函数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zh-C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zh-CN" dirty="0"/>
              </a:p>
              <a:p>
                <a:r>
                  <a:rPr lang="zh-CN" altLang="en-US" dirty="0"/>
                  <a:t>此处，绝对值符号表示向量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函数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长度，即范数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B458B47-FBAA-6E23-5C6B-F020AB926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6692" y="895546"/>
                <a:ext cx="10463753" cy="5712644"/>
              </a:xfrm>
              <a:blipFill>
                <a:blip r:embed="rId2"/>
                <a:stretch>
                  <a:fillRect l="-1049" t="-2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853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043AC-0156-160C-B918-6FD2EF12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D355C8-BF0D-9966-4A75-0A9A8CFDA8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zh-CN" dirty="0"/>
                  <a:t>收敛，试证：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en-US" dirty="0"/>
                  <a:t>证明：令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D355C8-BF0D-9966-4A75-0A9A8CFDA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734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85F38-8AD0-C011-1A82-D2CEAF47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5ADC64-DA96-561F-A1BD-06182F639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zh-CN" altLang="zh-CN" dirty="0"/>
                  <a:t>求连续函数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dirty="0"/>
                  <a:t>使得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5ADC64-DA96-561F-A1BD-06182F639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507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59FD-59C3-7C4F-196E-AA4F15CC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8CA2B-7BDF-89A4-619D-6FF4DFA4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AEB63D3-3000-43BD-EE1B-706E5190B8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zh-CN" altLang="zh-CN" dirty="0"/>
                  <a:t>求连续函数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dirty="0"/>
                  <a:t>使得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r>
                  <a:rPr lang="zh-CN" altLang="zh-CN" dirty="0"/>
                  <a:t>解答：先消去一部分，或者说，先求满足条件的多项式</a:t>
                </a:r>
                <a:r>
                  <a:rPr lang="en-US" altLang="zh-CN" dirty="0"/>
                  <a:t>. </a:t>
                </a:r>
                <a:r>
                  <a:rPr lang="zh-CN" altLang="zh-CN" dirty="0"/>
                  <a:t>分析次数，可取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r>
                  <a:rPr lang="zh-CN" altLang="zh-CN" dirty="0"/>
                  <a:t>，代入可得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第二步，令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dirty="0"/>
                  <a:t>，可得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zh-CN" dirty="0"/>
                  <a:t>需满足的条件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AEB63D3-3000-43BD-EE1B-706E5190B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078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FFFE63-A13A-A4AA-B66F-B987164E3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826" y="914400"/>
                <a:ext cx="10429973" cy="52625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，下面</a:t>
                </a:r>
                <a:r>
                  <a:rPr lang="zh-CN" altLang="zh-CN" dirty="0"/>
                  <a:t>证明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r>
                  <a:rPr lang="zh-CN" altLang="zh-CN" dirty="0"/>
                  <a:t>任取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zh-CN" dirty="0"/>
                  <a:t>上的最大值为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𝑀𝑥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再次迭代可知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4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𝑀𝑡𝑑𝑡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zh-CN" dirty="0"/>
              </a:p>
              <a:p>
                <a:r>
                  <a:rPr lang="zh-CN" altLang="en-US" dirty="0"/>
                  <a:t>反复迭代可知</a:t>
                </a:r>
                <a:r>
                  <a:rPr lang="zh-CN" altLang="zh-CN" dirty="0"/>
                  <a:t>，对任意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/>
                  <a:t>都有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dirty="0"/>
                  <a:t>即知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FFFE63-A13A-A4AA-B66F-B987164E3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826" y="914400"/>
                <a:ext cx="10429973" cy="5262563"/>
              </a:xfrm>
              <a:blipFill>
                <a:blip r:embed="rId2"/>
                <a:stretch>
                  <a:fillRect l="-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805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31BD4-4E08-6A64-8A49-A036D4B3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B4827C-BD4D-E3D6-CF4F-D2AF7CCCE7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zh-CN" dirty="0"/>
                  <a:t>上三次可导，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dirty="0"/>
                  <a:t>. </a:t>
                </a:r>
                <a:r>
                  <a:rPr lang="zh-CN" altLang="zh-CN" dirty="0"/>
                  <a:t>证明：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192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zh-CN" dirty="0"/>
              </a:p>
              <a:p>
                <a:r>
                  <a:rPr lang="zh-CN" altLang="zh-CN" dirty="0"/>
                  <a:t>其中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′′′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B4827C-BD4D-E3D6-CF4F-D2AF7CCCE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893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8AADD-FCA6-5039-2477-7CDB5EF0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美国数学月刊</a:t>
            </a:r>
            <a:r>
              <a:rPr lang="en-US" altLang="zh-CN" dirty="0"/>
              <a:t>12142</a:t>
            </a:r>
            <a:r>
              <a:rPr lang="zh-CN" altLang="zh-CN" dirty="0"/>
              <a:t>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E099EA-B980-3364-7CE8-F27C315354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</m:oMath>
                </a14:m>
                <a:r>
                  <a:rPr lang="zh-CN" altLang="zh-CN" dirty="0"/>
                  <a:t>连续可导，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𝑎</m:t>
                        </m:r>
                      </m:sub>
                      <m:sup>
                        <m:r>
                          <a:rPr lang="zh-CN" altLang="en-US" i="1"/>
                          <m:t>𝑏</m:t>
                        </m:r>
                      </m:sup>
                      <m:e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𝑥</m:t>
                            </m:r>
                          </m:e>
                        </m:d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=0</m:t>
                    </m:r>
                  </m:oMath>
                </a14:m>
                <a:r>
                  <a:rPr lang="zh-CN" altLang="zh-CN" dirty="0"/>
                  <a:t>，试证：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𝑎</m:t>
                        </m:r>
                      </m:sub>
                      <m:sup>
                        <m:r>
                          <a:rPr lang="zh-CN" altLang="en-US" i="1"/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/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zh-CN" altLang="en-US" i="1"/>
                      <m:t>≥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980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i="1"/>
                      <m:t>⋅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i="1"/>
                                  <m:t>+</m:t>
                                </m:r>
                                <m:r>
                                  <a:rPr lang="zh-CN" altLang="en-US" i="1"/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𝑏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𝑏</m:t>
                                </m:r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E099EA-B980-3364-7CE8-F27C315354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425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4D8A-AC10-8107-08B2-BD12E0C26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9632F-795F-CA1E-891A-0CAD3215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美国数学月刊</a:t>
            </a:r>
            <a:r>
              <a:rPr lang="en-US" altLang="zh-CN" dirty="0"/>
              <a:t>12142</a:t>
            </a:r>
            <a:r>
              <a:rPr lang="zh-CN" altLang="zh-CN" dirty="0"/>
              <a:t>问题</a:t>
            </a:r>
            <a:r>
              <a:rPr lang="zh-CN" altLang="en-US" dirty="0"/>
              <a:t>，加强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049F54-73F7-30CD-2A9E-E5960D530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</m:oMath>
                </a14:m>
                <a:r>
                  <a:rPr lang="zh-CN" altLang="zh-CN" dirty="0"/>
                  <a:t>连续可导，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𝑎</m:t>
                        </m:r>
                      </m:sub>
                      <m:sup>
                        <m:r>
                          <a:rPr lang="zh-CN" altLang="en-US" i="1"/>
                          <m:t>𝑏</m:t>
                        </m:r>
                      </m:sup>
                      <m:e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𝑥</m:t>
                            </m:r>
                          </m:e>
                        </m:d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=0</m:t>
                    </m:r>
                  </m:oMath>
                </a14:m>
                <a:r>
                  <a:rPr lang="zh-CN" altLang="zh-CN" dirty="0"/>
                  <a:t>，试证：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𝑎</m:t>
                        </m:r>
                      </m:sub>
                      <m:sup>
                        <m:r>
                          <a:rPr lang="zh-CN" altLang="en-US" i="1"/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/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zh-CN" altLang="en-US" i="1"/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30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i="1"/>
                                  <m:t>+</m:t>
                                </m:r>
                                <m:r>
                                  <a:rPr lang="zh-CN" altLang="en-US" i="1"/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𝑏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𝑏</m:t>
                                </m:r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提示：考虑辅助函数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分部积分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柯西不等式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049F54-73F7-30CD-2A9E-E5960D530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774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24B5-30FC-4775-D89F-AAE8BC00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0DAA6-FD44-A229-9DFF-216B2FA7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美国数学月刊</a:t>
            </a:r>
            <a:r>
              <a:rPr lang="en-US" altLang="zh-CN" dirty="0"/>
              <a:t>12142</a:t>
            </a:r>
            <a:r>
              <a:rPr lang="zh-CN" altLang="zh-CN" dirty="0"/>
              <a:t>问题</a:t>
            </a:r>
            <a:r>
              <a:rPr lang="zh-CN" altLang="en-US" dirty="0"/>
              <a:t>，加强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01FC77A-4369-E5D7-97F2-E12F396F5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</m:oMath>
                </a14:m>
                <a:r>
                  <a:rPr lang="zh-CN" altLang="zh-CN" dirty="0"/>
                  <a:t>连续可导，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𝑎</m:t>
                        </m:r>
                      </m:sub>
                      <m:sup>
                        <m:r>
                          <a:rPr lang="zh-CN" altLang="en-US" i="1"/>
                          <m:t>𝑏</m:t>
                        </m:r>
                      </m:sup>
                      <m:e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𝑥</m:t>
                            </m:r>
                          </m:e>
                        </m:d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=0</m:t>
                    </m:r>
                  </m:oMath>
                </a14:m>
                <a:r>
                  <a:rPr lang="zh-CN" altLang="zh-CN" dirty="0"/>
                  <a:t>，试证：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𝑎</m:t>
                        </m:r>
                      </m:sub>
                      <m:sup>
                        <m:r>
                          <a:rPr lang="zh-CN" altLang="en-US" i="1"/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/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zh-CN" altLang="en-US" i="1"/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30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i="1"/>
                                  <m:t>+</m:t>
                                </m:r>
                                <m:r>
                                  <a:rPr lang="zh-CN" altLang="en-US" i="1"/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𝑏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𝑏</m:t>
                                </m:r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提示：考虑辅助函数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分部积分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柯西不等式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01FC77A-4369-E5D7-97F2-E12F396F5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195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0FDF5-A9FD-B988-4736-F4624F05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美国数学月刊</a:t>
            </a:r>
            <a:r>
              <a:rPr lang="en-US" altLang="zh-CN" dirty="0"/>
              <a:t>12229</a:t>
            </a:r>
            <a:r>
              <a:rPr lang="zh-CN" altLang="zh-CN" dirty="0"/>
              <a:t>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C0B6BE6-C86E-5866-E0CD-27EE631E4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</m:oMath>
                </a14:m>
                <a:r>
                  <a:rPr lang="zh-CN" altLang="zh-CN" dirty="0"/>
                  <a:t>连续可导，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en-US" altLang="zh-CN" i="1"/>
                        </m:ctrlPr>
                      </m:dPr>
                      <m:e>
                        <m:r>
                          <a:rPr lang="en-US" altLang="zh-CN" i="1"/>
                          <m:t>0</m:t>
                        </m:r>
                      </m:e>
                    </m:d>
                    <m:r>
                      <a:rPr lang="en-US" altLang="zh-CN" i="1"/>
                      <m:t>=</m:t>
                    </m:r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en-US" altLang="zh-CN" i="1"/>
                        </m:ctrlPr>
                      </m:dPr>
                      <m:e>
                        <m:r>
                          <a:rPr lang="en-US" altLang="zh-CN" i="1"/>
                          <m:t>1</m:t>
                        </m:r>
                      </m:e>
                    </m:d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en-US" altLang="zh-CN" i="1"/>
                          <m:t>1</m:t>
                        </m:r>
                      </m:sup>
                      <m:e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𝑥</m:t>
                            </m:r>
                          </m:e>
                        </m:d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=0</m:t>
                    </m:r>
                  </m:oMath>
                </a14:m>
                <a:r>
                  <a:rPr lang="en-US" altLang="zh-CN" dirty="0"/>
                  <a:t>. </a:t>
                </a:r>
                <a:r>
                  <a:rPr lang="zh-CN" altLang="zh-CN" dirty="0"/>
                  <a:t>试证：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nary>
                              <m:naryPr>
                                <m:ctrlPr>
                                  <a:rPr lang="en-US" altLang="zh-CN" i="1"/>
                                </m:ctrlPr>
                              </m:naryPr>
                              <m:sub>
                                <m:r>
                                  <a:rPr lang="en-US" altLang="zh-CN" i="1"/>
                                  <m:t>0</m:t>
                                </m:r>
                              </m:sub>
                              <m:sup>
                                <m:r>
                                  <a:rPr lang="en-US" altLang="zh-CN" i="1"/>
                                  <m:t>1</m:t>
                                </m:r>
                              </m:sup>
                              <m:e>
                                <m:r>
                                  <a:rPr lang="zh-CN" altLang="en-US" i="1"/>
                                  <m:t>𝑥𝑓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  <m:r>
                                  <a:rPr lang="zh-CN" altLang="en-US" i="1"/>
                                  <m:t>𝑑𝑥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  <m:r>
                      <a:rPr lang="zh-CN" altLang="en-US" i="1"/>
                      <m:t>≤</m:t>
                    </m:r>
                    <m:f>
                      <m:fPr>
                        <m:ctrlPr>
                          <a:rPr lang="en-US" altLang="zh-CN" i="1"/>
                        </m:ctrlPr>
                      </m:fPr>
                      <m:num>
                        <m:r>
                          <a:rPr lang="en-US" altLang="zh-CN" i="1"/>
                          <m:t>1</m:t>
                        </m:r>
                      </m:num>
                      <m:den>
                        <m:r>
                          <a:rPr lang="en-US" altLang="zh-CN" i="1"/>
                          <m:t>30240</m:t>
                        </m:r>
                      </m:den>
                    </m:f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en-US" altLang="zh-CN" i="1"/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/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  <m:r>
                          <a:rPr lang="zh-CN" altLang="en-US" i="1"/>
                          <m:t>𝑑𝑥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C0B6BE6-C86E-5866-E0CD-27EE631E4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00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CE24-0F95-DC9E-35CF-6464F31B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30B04-B79C-0DE8-9E52-68FF10AE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美国数学月刊</a:t>
            </a:r>
            <a:r>
              <a:rPr lang="en-US" altLang="zh-CN" dirty="0"/>
              <a:t>12229</a:t>
            </a:r>
            <a:r>
              <a:rPr lang="zh-CN" altLang="zh-CN" dirty="0"/>
              <a:t>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18EE35-C3C3-63D5-00F2-DC18E7103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</m:oMath>
                </a14:m>
                <a:r>
                  <a:rPr lang="zh-CN" altLang="zh-CN" dirty="0"/>
                  <a:t>连续可导，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en-US" altLang="zh-CN" i="1"/>
                        </m:ctrlPr>
                      </m:dPr>
                      <m:e>
                        <m:r>
                          <a:rPr lang="en-US" altLang="zh-CN" i="1"/>
                          <m:t>0</m:t>
                        </m:r>
                      </m:e>
                    </m:d>
                    <m:r>
                      <a:rPr lang="en-US" altLang="zh-CN" i="1"/>
                      <m:t>=</m:t>
                    </m:r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en-US" altLang="zh-CN" i="1"/>
                        </m:ctrlPr>
                      </m:dPr>
                      <m:e>
                        <m:r>
                          <a:rPr lang="en-US" altLang="zh-CN" i="1"/>
                          <m:t>1</m:t>
                        </m:r>
                      </m:e>
                    </m:d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en-US" altLang="zh-CN" i="1"/>
                          <m:t>1</m:t>
                        </m:r>
                      </m:sup>
                      <m:e>
                        <m:r>
                          <a:rPr lang="zh-CN" altLang="en-US" i="1"/>
                          <m:t>𝑓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𝑥</m:t>
                            </m:r>
                          </m:e>
                        </m:d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=0</m:t>
                    </m:r>
                  </m:oMath>
                </a14:m>
                <a:r>
                  <a:rPr lang="en-US" altLang="zh-CN" dirty="0"/>
                  <a:t>. </a:t>
                </a:r>
                <a:r>
                  <a:rPr lang="zh-CN" altLang="zh-CN" dirty="0"/>
                  <a:t>试证：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nary>
                              <m:naryPr>
                                <m:ctrlPr>
                                  <a:rPr lang="en-US" altLang="zh-CN" i="1"/>
                                </m:ctrlPr>
                              </m:naryPr>
                              <m:sub>
                                <m:r>
                                  <a:rPr lang="en-US" altLang="zh-CN" i="1"/>
                                  <m:t>0</m:t>
                                </m:r>
                              </m:sub>
                              <m:sup>
                                <m:r>
                                  <a:rPr lang="en-US" altLang="zh-CN" i="1"/>
                                  <m:t>1</m:t>
                                </m:r>
                              </m:sup>
                              <m:e>
                                <m:r>
                                  <a:rPr lang="zh-CN" altLang="en-US" i="1"/>
                                  <m:t>𝑥𝑓</m:t>
                                </m:r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  <m:r>
                                  <a:rPr lang="zh-CN" altLang="en-US" i="1"/>
                                  <m:t>𝑑𝑥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  <m:r>
                      <a:rPr lang="zh-CN" altLang="en-US" i="1"/>
                      <m:t>≤</m:t>
                    </m:r>
                    <m:f>
                      <m:fPr>
                        <m:ctrlPr>
                          <a:rPr lang="en-US" altLang="zh-CN" i="1"/>
                        </m:ctrlPr>
                      </m:fPr>
                      <m:num>
                        <m:r>
                          <a:rPr lang="en-US" altLang="zh-CN" i="1"/>
                          <m:t>1</m:t>
                        </m:r>
                      </m:num>
                      <m:den>
                        <m:r>
                          <a:rPr lang="en-US" altLang="zh-CN" i="1"/>
                          <m:t>30240</m:t>
                        </m:r>
                      </m:den>
                    </m:f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en-US" altLang="zh-CN" i="1"/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/>
                                      <m:t>′′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  <m:r>
                          <a:rPr lang="zh-CN" altLang="en-US" i="1"/>
                          <m:t>𝑑𝑥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提示：构造辅助函数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dirty="0"/>
                  <a:t>，分部积分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柯西不等式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D18EE35-C3C3-63D5-00F2-DC18E7103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288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0CFD9-8EEF-D259-218D-E49DE2AD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BB1BC8-2020-E9D1-3759-CA64DF4F3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试证：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/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/>
                              <m:t>lim</m:t>
                            </m:r>
                          </m:e>
                          <m:lim>
                            <m:r>
                              <a:rPr lang="zh-CN" altLang="en-US" i="1"/>
                              <m:t>𝑥</m:t>
                            </m:r>
                            <m:r>
                              <a:rPr lang="zh-CN" altLang="en-US" i="1"/>
                              <m:t>→</m:t>
                            </m:r>
                            <m:sSup>
                              <m:sSupPr>
                                <m:ctrlPr>
                                  <a:rPr lang="en-US" altLang="zh-CN" i="1"/>
                                </m:ctrlPr>
                              </m:sSupPr>
                              <m:e>
                                <m:r>
                                  <a:rPr lang="en-US" altLang="zh-CN" i="1"/>
                                  <m:t>1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/>
                                </m:ctrlPr>
                              </m:dPr>
                              <m:e>
                                <m:r>
                                  <a:rPr lang="en-US" altLang="zh-CN" i="1"/>
                                  <m:t>1−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/>
                            </m:ctrlPr>
                          </m:naryPr>
                          <m:sub>
                            <m:r>
                              <a:rPr lang="zh-CN" altLang="en-US" i="1"/>
                              <m:t>𝑛</m:t>
                            </m:r>
                            <m:r>
                              <a:rPr lang="en-US" altLang="zh-CN" i="1"/>
                              <m:t>=1</m:t>
                            </m:r>
                          </m:sub>
                          <m:sup>
                            <m:r>
                              <a:rPr lang="zh-CN" altLang="en-US" i="1"/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en-US" i="1"/>
                                </m:ctrlPr>
                              </m:fPr>
                              <m:num>
                                <m:r>
                                  <a:rPr lang="zh-CN" altLang="en-US" i="1"/>
                                  <m:t>𝑛</m:t>
                                </m:r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i="1"/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/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i="1"/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func>
                    <m:r>
                      <a:rPr lang="en-US" altLang="zh-CN" i="1"/>
                      <m:t>=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𝜋</m:t>
                            </m:r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/>
                          <m:t>6</m:t>
                        </m:r>
                      </m:den>
                    </m:f>
                    <m:r>
                      <a:rPr lang="en-US" altLang="zh-CN" i="1"/>
                      <m:t>.</m:t>
                    </m:r>
                  </m:oMath>
                </a14:m>
                <a:endParaRPr lang="zh-CN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提示：将求和转化为积分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BB1BC8-2020-E9D1-3759-CA64DF4F3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769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357BF-CBE1-EE64-96C0-FE017056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651B14-68C3-6FB3-58CE-4CA0D127B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zh-CN" altLang="en-US" i="1"/>
                      <m:t>𝑥</m:t>
                    </m:r>
                    <m:r>
                      <a:rPr lang="en-US" altLang="zh-CN" i="1"/>
                      <m:t>=</m:t>
                    </m:r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r>
                          <a:rPr lang="zh-CN" altLang="en-US" i="1"/>
                          <m:t>𝑒</m:t>
                        </m:r>
                      </m:e>
                      <m:sup>
                        <m:r>
                          <a:rPr lang="zh-CN" altLang="en-US" i="1"/>
                          <m:t>−</m:t>
                        </m:r>
                        <m:r>
                          <a:rPr lang="zh-CN" altLang="en-US" i="1"/>
                          <m:t>𝑡</m:t>
                        </m:r>
                      </m:sup>
                    </m:sSup>
                    <m:r>
                      <a:rPr lang="en-US" altLang="zh-CN" i="1"/>
                      <m:t>,</m:t>
                    </m:r>
                    <m:r>
                      <a:rPr lang="zh-CN" altLang="en-US" i="1"/>
                      <m:t>𝑡</m:t>
                    </m:r>
                    <m:r>
                      <a:rPr lang="zh-CN" altLang="en-US" i="1"/>
                      <m:t>→</m:t>
                    </m:r>
                    <m:sSup>
                      <m:sSupPr>
                        <m:ctrlPr>
                          <a:rPr lang="en-US" altLang="zh-CN" i="1"/>
                        </m:ctrlPr>
                      </m:sSupPr>
                      <m:e>
                        <m:r>
                          <a:rPr lang="en-US" altLang="zh-CN" i="1"/>
                          <m:t>0</m:t>
                        </m:r>
                      </m:e>
                      <m:sup>
                        <m:r>
                          <a:rPr lang="en-US" altLang="zh-CN" i="1"/>
                          <m:t>+</m:t>
                        </m:r>
                      </m:sup>
                    </m:sSup>
                  </m:oMath>
                </a14:m>
                <a:r>
                  <a:rPr lang="en-US" altLang="zh-CN" dirty="0"/>
                  <a:t>. </a:t>
                </a:r>
                <a:r>
                  <a:rPr lang="zh-CN" altLang="zh-CN" dirty="0"/>
                  <a:t>无穷小</a:t>
                </a:r>
                <a14:m>
                  <m:oMath xmlns:m="http://schemas.openxmlformats.org/officeDocument/2006/math">
                    <m:r>
                      <a:rPr lang="en-US" altLang="zh-CN" i="1"/>
                      <m:t>1−</m:t>
                    </m:r>
                    <m:r>
                      <a:rPr lang="zh-CN" altLang="en-US" i="1"/>
                      <m:t>𝑥</m:t>
                    </m:r>
                    <m:r>
                      <a:rPr lang="zh-CN" altLang="en-US" i="1"/>
                      <m:t>∼</m:t>
                    </m:r>
                    <m:r>
                      <a:rPr lang="zh-CN" altLang="en-US" i="1"/>
                      <m:t>𝑡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/>
                      <m:t>𝐼</m:t>
                    </m:r>
                    <m:r>
                      <a:rPr lang="en-US" altLang="zh-CN" i="1"/>
                      <m:t>=</m:t>
                    </m:r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d>
                          <m:dPr>
                            <m:ctrlPr>
                              <a:rPr lang="en-US" altLang="zh-CN" i="1"/>
                            </m:ctrlPr>
                          </m:dPr>
                          <m:e>
                            <m:r>
                              <a:rPr lang="en-US" altLang="zh-CN" i="1"/>
                              <m:t>1−</m:t>
                            </m:r>
                            <m:r>
                              <a:rPr lang="zh-CN" altLang="en-US" i="1"/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𝑛</m:t>
                        </m:r>
                        <m:r>
                          <a:rPr lang="en-US" altLang="zh-CN" i="1"/>
                          <m:t>=1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𝑛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𝑥</m:t>
                                </m:r>
                              </m:e>
                              <m:sup>
                                <m:r>
                                  <a:rPr lang="zh-CN" altLang="en-US" i="1"/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𝑥</m:t>
                                </m:r>
                              </m:e>
                              <m:sup>
                                <m:r>
                                  <a:rPr lang="zh-CN" altLang="en-US" i="1"/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zh-CN" altLang="en-US" i="1"/>
                      <m:t>∼</m:t>
                    </m:r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r>
                          <a:rPr lang="zh-CN" altLang="en-US" i="1"/>
                          <m:t>𝑡</m:t>
                        </m:r>
                      </m:e>
                      <m:sup>
                        <m:r>
                          <a:rPr lang="en-US" altLang="zh-CN" i="1"/>
                          <m:t>2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𝑛</m:t>
                        </m:r>
                        <m:r>
                          <a:rPr lang="en-US" altLang="zh-CN" i="1"/>
                          <m:t>=1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𝑛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𝑛𝑡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𝑛𝑡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i="1"/>
                      <m:t>=</m:t>
                    </m:r>
                    <m:r>
                      <a:rPr lang="zh-CN" altLang="en-US" i="1"/>
                      <m:t>𝑡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𝑛</m:t>
                        </m:r>
                        <m:r>
                          <a:rPr lang="en-US" altLang="zh-CN" i="1"/>
                          <m:t>=1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𝑛𝑡</m:t>
                            </m:r>
                            <m:r>
                              <a:rPr lang="zh-CN" altLang="en-US" i="1"/>
                              <m:t>⋅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𝑛𝑡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𝑛𝑡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zh-CN" altLang="zh-CN" dirty="0"/>
              </a:p>
              <a:p>
                <a:r>
                  <a:rPr lang="zh-CN" altLang="en-US" dirty="0"/>
                  <a:t>步长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分割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0,∞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下证：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𝑛</m:t>
                        </m:r>
                        <m:r>
                          <a:rPr lang="en-US" altLang="zh-CN" i="1"/>
                          <m:t>=1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𝑛𝑡</m:t>
                            </m:r>
                            <m:r>
                              <a:rPr lang="zh-CN" altLang="en-US" i="1"/>
                              <m:t>⋅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𝑛𝑡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𝑛𝑡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zh-CN" altLang="en-US" i="1"/>
                      <m:t>∼</m:t>
                    </m:r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𝑥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</m:t>
                    </m:r>
                    <m:r>
                      <a:rPr lang="zh-CN" altLang="en-US" i="1"/>
                      <m:t>𝐽</m:t>
                    </m:r>
                  </m:oMath>
                </a14:m>
                <a:endParaRPr lang="en-US" altLang="zh-CN" dirty="0"/>
              </a:p>
              <a:p>
                <a:r>
                  <a:rPr lang="zh-CN" altLang="zh-CN" dirty="0"/>
                  <a:t>最后计算定积分</a:t>
                </a:r>
                <a14:m>
                  <m:oMath xmlns:m="http://schemas.openxmlformats.org/officeDocument/2006/math">
                    <m:r>
                      <a:rPr lang="zh-CN" altLang="en-US" i="1"/>
                      <m:t>𝐽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/>
                      <m:t>𝐽</m:t>
                    </m:r>
                    <m:r>
                      <a:rPr lang="en-US" altLang="zh-CN" i="1"/>
                      <m:t>=</m:t>
                    </m:r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𝑥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=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𝜋</m:t>
                            </m:r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/>
                          <m:t>6</m:t>
                        </m:r>
                      </m:den>
                    </m:f>
                    <m:r>
                      <a:rPr lang="en-US" altLang="zh-CN" i="1"/>
                      <m:t>.</m:t>
                    </m:r>
                  </m:oMath>
                </a14:m>
                <a:endParaRPr lang="zh-CN" altLang="zh-CN" dirty="0"/>
              </a:p>
              <a:p>
                <a:endParaRPr lang="zh-CN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651B14-68C3-6FB3-58CE-4CA0D127B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392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EBE9E-2CF8-D86D-1194-3E3BF9BF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CF9068-3B5E-E51C-C4F9-AF2D0DC2F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连续、单调下降，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. </a:t>
                </a:r>
                <a:r>
                  <a:rPr lang="zh-CN" altLang="en-US" dirty="0"/>
                  <a:t>则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𝑛𝑡</m:t>
                                </m:r>
                              </m:e>
                            </m:d>
                          </m:e>
                        </m:nary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意思是：其中之一收敛，则另一个也收敛，且有二者相等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CF9068-3B5E-E51C-C4F9-AF2D0DC2F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317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45516-94EF-5FCB-4FA7-A1096A9A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078907-5FEB-E3BF-6DC8-65D2E8A2CA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i="1"/>
                      <m:t>𝐽</m:t>
                    </m:r>
                    <m:r>
                      <a:rPr lang="zh-CN" altLang="en-US" i="1"/>
                      <m:t>−</m:t>
                    </m:r>
                    <m:r>
                      <a:rPr lang="zh-CN" altLang="en-US" i="1"/>
                      <m:t>𝐼</m:t>
                    </m:r>
                    <m:r>
                      <a:rPr lang="en-US" altLang="zh-CN" i="1"/>
                      <m:t>=</m:t>
                    </m:r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zh-CN" altLang="en-US" i="1"/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𝑥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i="1"/>
                        </m:ctrlPr>
                      </m:naryPr>
                      <m:sub>
                        <m:r>
                          <a:rPr lang="zh-CN" altLang="en-US" i="1"/>
                          <m:t>𝑛</m:t>
                        </m:r>
                        <m:r>
                          <a:rPr lang="en-US" altLang="zh-CN" i="1"/>
                          <m:t>=1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zh-CN" altLang="en-US" i="1"/>
                            </m:ctrlPr>
                          </m:naryPr>
                          <m:sub>
                            <m:r>
                              <a:rPr lang="zh-CN" altLang="en-US" i="1"/>
                              <m:t>𝑛𝑡</m:t>
                            </m:r>
                          </m:sub>
                          <m:sup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r>
                                  <a:rPr lang="zh-CN" altLang="en-US" i="1"/>
                                  <m:t>𝑛</m:t>
                                </m:r>
                                <m:r>
                                  <a:rPr lang="en-US" altLang="zh-CN" i="1"/>
                                  <m:t>+1</m:t>
                                </m:r>
                              </m:e>
                            </m:d>
                            <m:r>
                              <a:rPr lang="zh-CN" altLang="en-US" i="1"/>
                              <m:t>𝑡</m:t>
                            </m:r>
                          </m:sup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i="1"/>
                                    </m:ctrlPr>
                                  </m:fPr>
                                  <m:num>
                                    <m:r>
                                      <a:rPr lang="zh-CN" altLang="en-US" i="1"/>
                                      <m:t>𝑥</m:t>
                                    </m:r>
                                    <m:sSup>
                                      <m:sSupPr>
                                        <m:ctrlPr>
                                          <a:rPr lang="zh-CN" altLang="en-US" i="1"/>
                                        </m:ctrlPr>
                                      </m:sSupPr>
                                      <m:e>
                                        <m:r>
                                          <a:rPr lang="zh-CN" altLang="en-US" i="1"/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/>
                                          <m:t>−</m:t>
                                        </m:r>
                                        <m:r>
                                          <a:rPr lang="zh-CN" altLang="en-US" i="1"/>
                                          <m:t>𝑥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i="1"/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zh-CN" altLang="en-US" i="1"/>
                                        </m:ctrlPr>
                                      </m:sSupPr>
                                      <m:e>
                                        <m:r>
                                          <a:rPr lang="zh-CN" altLang="en-US" i="1"/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/>
                                          <m:t>−</m:t>
                                        </m:r>
                                        <m:r>
                                          <a:rPr lang="zh-CN" altLang="en-US" i="1"/>
                                          <m:t>𝑥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zh-CN" altLang="en-US" i="1"/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i="1"/>
                                    </m:ctrlPr>
                                  </m:fPr>
                                  <m:num>
                                    <m:r>
                                      <a:rPr lang="zh-CN" altLang="en-US" i="1"/>
                                      <m:t>𝑛𝑡</m:t>
                                    </m:r>
                                    <m:r>
                                      <a:rPr lang="zh-CN" altLang="en-US" i="1"/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zh-CN" altLang="en-US" i="1"/>
                                        </m:ctrlPr>
                                      </m:sSupPr>
                                      <m:e>
                                        <m:r>
                                          <a:rPr lang="zh-CN" altLang="en-US" i="1"/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/>
                                          <m:t>−</m:t>
                                        </m:r>
                                        <m:r>
                                          <a:rPr lang="zh-CN" altLang="en-US" i="1"/>
                                          <m:t>𝑛𝑡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i="1"/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zh-CN" altLang="en-US" i="1"/>
                                        </m:ctrlPr>
                                      </m:sSupPr>
                                      <m:e>
                                        <m:r>
                                          <a:rPr lang="zh-CN" altLang="en-US" i="1"/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zh-CN" altLang="en-US" i="1"/>
                                          <m:t>−</m:t>
                                        </m:r>
                                        <m:r>
                                          <a:rPr lang="zh-CN" altLang="en-US" i="1"/>
                                          <m:t>𝑛𝑡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  <m:r>
                              <a:rPr lang="zh-CN" altLang="en-US" i="1"/>
                              <m:t>𝑑𝑡</m:t>
                            </m:r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r>
                  <a:rPr lang="zh-CN" altLang="zh-CN" dirty="0"/>
                  <a:t>令：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𝑥</m:t>
                        </m:r>
                      </m:e>
                    </m:d>
                    <m:r>
                      <a:rPr lang="en-US" altLang="zh-CN" i="1"/>
                      <m:t>=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𝑥</m:t>
                        </m:r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−</m:t>
                            </m:r>
                            <m:r>
                              <a:rPr lang="zh-CN" altLang="en-US" i="1"/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zh-CN" i="1"/>
                          <m:t>1−</m:t>
                        </m:r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−</m:t>
                            </m:r>
                            <m:r>
                              <a:rPr lang="zh-CN" altLang="en-US" i="1"/>
                              <m:t>𝑥</m:t>
                            </m:r>
                          </m:sup>
                        </m:sSup>
                      </m:den>
                    </m:f>
                    <m:r>
                      <a:rPr lang="en-US" altLang="zh-CN" i="1"/>
                      <m:t>=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𝑥</m:t>
                            </m:r>
                          </m:sup>
                        </m:sSup>
                        <m:r>
                          <a:rPr lang="zh-CN" altLang="en-US" i="1"/>
                          <m:t>−</m:t>
                        </m:r>
                        <m:r>
                          <a:rPr lang="en-US" altLang="zh-CN" i="1"/>
                          <m:t>1</m:t>
                        </m:r>
                      </m:den>
                    </m:f>
                  </m:oMath>
                </a14:m>
                <a:endParaRPr lang="zh-CN" altLang="zh-CN" dirty="0"/>
              </a:p>
              <a:p>
                <a:r>
                  <a:rPr lang="zh-CN" altLang="zh-CN" dirty="0"/>
                  <a:t>则</a:t>
                </a:r>
                <a14:m>
                  <m:oMath xmlns:m="http://schemas.openxmlformats.org/officeDocument/2006/math">
                    <m:r>
                      <a:rPr lang="zh-CN" altLang="en-US" i="1"/>
                      <m:t>𝑓</m:t>
                    </m:r>
                  </m:oMath>
                </a14:m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altLang="zh-CN" i="1"/>
                        </m:ctrlPr>
                      </m:dPr>
                      <m:e>
                        <m:r>
                          <a:rPr lang="en-US" altLang="zh-CN" i="1"/>
                          <m:t>0,+∞</m:t>
                        </m:r>
                      </m:e>
                    </m:d>
                  </m:oMath>
                </a14:m>
                <a:r>
                  <a:rPr lang="zh-CN" altLang="zh-CN" dirty="0"/>
                  <a:t>连续</a:t>
                </a:r>
                <a:r>
                  <a:rPr lang="zh-CN" altLang="en-US" dirty="0"/>
                  <a:t>，单调递增</a:t>
                </a:r>
                <a:r>
                  <a:rPr lang="zh-CN" altLang="zh-CN" dirty="0"/>
                  <a:t>，且在</a:t>
                </a:r>
                <a14:m>
                  <m:oMath xmlns:m="http://schemas.openxmlformats.org/officeDocument/2006/math">
                    <m:r>
                      <a:rPr lang="zh-CN" altLang="en-US" i="1"/>
                      <m:t>𝑥</m:t>
                    </m:r>
                  </m:oMath>
                </a14:m>
                <a:r>
                  <a:rPr lang="zh-CN" altLang="zh-CN" dirty="0"/>
                  <a:t>较大时，很快趋于</a:t>
                </a:r>
                <a:r>
                  <a:rPr lang="en-US" altLang="zh-CN" dirty="0"/>
                  <a:t>0. </a:t>
                </a:r>
              </a:p>
              <a:p>
                <a:r>
                  <a:rPr lang="zh-CN" altLang="zh-CN" dirty="0"/>
                  <a:t>故积分</a:t>
                </a:r>
                <a14:m>
                  <m:oMath xmlns:m="http://schemas.openxmlformats.org/officeDocument/2006/math">
                    <m:r>
                      <a:rPr lang="zh-CN" altLang="en-US" i="1"/>
                      <m:t>𝐽</m:t>
                    </m:r>
                  </m:oMath>
                </a14:m>
                <a:r>
                  <a:rPr lang="zh-CN" altLang="zh-CN" dirty="0"/>
                  <a:t>收敛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r>
                  <a:rPr lang="zh-CN" altLang="zh-CN" dirty="0"/>
                  <a:t>为证明上述差值趋于</a:t>
                </a:r>
                <a:r>
                  <a:rPr lang="en-US" altLang="zh-CN" dirty="0"/>
                  <a:t>0</a:t>
                </a:r>
                <a:r>
                  <a:rPr lang="zh-CN" altLang="zh-CN" dirty="0"/>
                  <a:t>，仅需对取值较大的进行讨论即可</a:t>
                </a:r>
                <a:r>
                  <a:rPr lang="en-US" altLang="zh-CN" dirty="0"/>
                  <a:t>.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F078907-5FEB-E3BF-6DC8-65D2E8A2CA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101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02AE3-ADCF-C0E4-6B6D-174512C6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2CE6B80-36DE-CDE0-546D-F5456F969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zh-CN" dirty="0"/>
                  <a:t>对于</a:t>
                </a:r>
                <a14:m>
                  <m:oMath xmlns:m="http://schemas.openxmlformats.org/officeDocument/2006/math">
                    <m:r>
                      <a:rPr lang="zh-CN" altLang="en-US" i="1"/>
                      <m:t>𝑥</m:t>
                    </m:r>
                    <m:r>
                      <a:rPr lang="zh-CN" altLang="en-US" i="1"/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𝑛𝑡</m:t>
                        </m:r>
                        <m:r>
                          <a:rPr lang="en-US" altLang="zh-CN" i="1"/>
                          <m:t>,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𝑛</m:t>
                            </m:r>
                            <m:r>
                              <a:rPr lang="en-US" altLang="zh-CN" i="1"/>
                              <m:t>+1</m:t>
                            </m:r>
                          </m:e>
                        </m:d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𝑥</m:t>
                        </m:r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−</m:t>
                            </m:r>
                            <m:r>
                              <a:rPr lang="zh-CN" altLang="en-US" i="1"/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zh-CN" i="1"/>
                          <m:t>1−</m:t>
                        </m:r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−</m:t>
                            </m:r>
                            <m:r>
                              <a:rPr lang="zh-CN" altLang="en-US" i="1"/>
                              <m:t>𝑥</m:t>
                            </m:r>
                          </m:sup>
                        </m:sSup>
                      </m:den>
                    </m:f>
                    <m:r>
                      <a:rPr lang="zh-CN" altLang="en-US" i="1"/>
                      <m:t>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𝑛𝑡</m:t>
                        </m:r>
                        <m:r>
                          <a:rPr lang="zh-CN" altLang="en-US" i="1"/>
                          <m:t>⋅</m:t>
                        </m:r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−</m:t>
                            </m:r>
                            <m:r>
                              <a:rPr lang="zh-CN" altLang="en-US" i="1"/>
                              <m:t>𝑛𝑡</m:t>
                            </m:r>
                          </m:sup>
                        </m:sSup>
                      </m:num>
                      <m:den>
                        <m:r>
                          <a:rPr lang="en-US" altLang="zh-CN" i="1"/>
                          <m:t>1−</m:t>
                        </m:r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−</m:t>
                            </m:r>
                            <m:r>
                              <a:rPr lang="zh-CN" altLang="en-US" i="1"/>
                              <m:t>𝑛𝑡</m:t>
                            </m:r>
                          </m:sup>
                        </m:sSup>
                      </m:den>
                    </m:f>
                    <m:r>
                      <a:rPr lang="zh-CN" altLang="en-US" i="1"/>
                      <m:t>∼</m:t>
                    </m:r>
                    <m:r>
                      <a:rPr lang="zh-CN" altLang="en-US" i="1"/>
                      <m:t>𝑡</m:t>
                    </m:r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r>
                          <a:rPr lang="zh-CN" altLang="en-US" i="1"/>
                          <m:t>𝑓</m:t>
                        </m:r>
                      </m:e>
                      <m:sup>
                        <m:r>
                          <a:rPr lang="en-US" altLang="zh-CN" i="1"/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𝜉</m:t>
                        </m:r>
                      </m:e>
                    </m:d>
                  </m:oMath>
                </a14:m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/>
                      <m:t>𝜉</m:t>
                    </m:r>
                    <m:r>
                      <a:rPr lang="zh-CN" altLang="en-US" i="1"/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𝑛𝑡</m:t>
                        </m:r>
                        <m:r>
                          <a:rPr lang="en-US" altLang="zh-CN" i="1"/>
                          <m:t>,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r>
                              <a:rPr lang="zh-CN" altLang="en-US" i="1"/>
                              <m:t>𝑛</m:t>
                            </m:r>
                            <m:r>
                              <a:rPr lang="en-US" altLang="zh-CN" i="1"/>
                              <m:t>+1</m:t>
                            </m:r>
                          </m:e>
                        </m:d>
                        <m:r>
                          <a:rPr lang="zh-CN" altLang="en-US" i="1"/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/>
                        </m:ctrlPr>
                      </m:sSupPr>
                      <m:e>
                        <m:r>
                          <a:rPr lang="zh-CN" altLang="en-US" i="1"/>
                          <m:t>𝑓</m:t>
                        </m:r>
                      </m:e>
                      <m:sup>
                        <m:r>
                          <a:rPr lang="en-US" altLang="zh-CN" i="1"/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𝑥</m:t>
                        </m:r>
                      </m:e>
                    </m:d>
                    <m:r>
                      <a:rPr lang="en-US" altLang="zh-CN" i="1"/>
                      <m:t>=</m:t>
                    </m:r>
                    <m:f>
                      <m:fPr>
                        <m:ctrlPr>
                          <a:rPr lang="en-US" altLang="zh-CN" i="1"/>
                        </m:ctrlPr>
                      </m:fPr>
                      <m:num>
                        <m:r>
                          <a:rPr lang="en-US" altLang="zh-CN" i="1"/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r>
                              <a:rPr lang="zh-CN" altLang="en-US" i="1"/>
                              <m:t>𝑒</m:t>
                            </m:r>
                          </m:e>
                          <m:sup>
                            <m:r>
                              <a:rPr lang="zh-CN" altLang="en-US" i="1"/>
                              <m:t>𝑥</m:t>
                            </m:r>
                          </m:sup>
                        </m:sSup>
                        <m:r>
                          <a:rPr lang="zh-CN" altLang="en-US" i="1"/>
                          <m:t>−</m:t>
                        </m:r>
                        <m:r>
                          <a:rPr lang="en-US" altLang="zh-CN" i="1"/>
                          <m:t>1</m:t>
                        </m:r>
                      </m:den>
                    </m:f>
                    <m:r>
                      <a:rPr lang="zh-CN" altLang="en-US" i="1"/>
                      <m:t>−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a:rPr lang="zh-CN" altLang="en-US" i="1"/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zh-CN" altLang="en-US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/>
                                      <m:t>𝑥</m:t>
                                    </m:r>
                                  </m:sup>
                                </m:s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en-US" altLang="zh-CN" i="1"/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/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i="1"/>
                        </m:ctrlPr>
                      </m:dPr>
                      <m:e>
                        <m:r>
                          <a:rPr lang="zh-CN" altLang="en-US" i="1"/>
                          <m:t>𝐽</m:t>
                        </m:r>
                        <m:r>
                          <a:rPr lang="zh-CN" altLang="en-US" i="1"/>
                          <m:t>−</m:t>
                        </m:r>
                        <m:r>
                          <a:rPr lang="zh-CN" altLang="en-US" i="1"/>
                          <m:t>𝐼</m:t>
                        </m:r>
                      </m:e>
                    </m:d>
                    <m:r>
                      <a:rPr lang="zh-CN" altLang="en-US" i="1"/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zh-CN" altLang="en-US" i="1"/>
                        </m:ctrlPr>
                      </m:dPr>
                      <m:e>
                        <m:nary>
                          <m:naryPr>
                            <m:ctrlPr>
                              <a:rPr lang="en-US" altLang="zh-CN" i="1"/>
                            </m:ctrlPr>
                          </m:naryPr>
                          <m:sub>
                            <m:r>
                              <a:rPr lang="en-US" altLang="zh-CN" i="1"/>
                              <m:t>0</m:t>
                            </m:r>
                          </m:sub>
                          <m:sup>
                            <m:r>
                              <a:rPr lang="zh-CN" altLang="en-US" i="1"/>
                              <m:t>𝑡</m:t>
                            </m:r>
                          </m:sup>
                          <m:e>
                            <m:f>
                              <m:fPr>
                                <m:ctrlPr>
                                  <a:rPr lang="zh-CN" altLang="en-US" i="1"/>
                                </m:ctrlPr>
                              </m:fPr>
                              <m:num>
                                <m:r>
                                  <a:rPr lang="zh-CN" altLang="en-US" i="1"/>
                                  <m:t>𝑥</m:t>
                                </m:r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/>
                                      <m:t>−</m:t>
                                    </m:r>
                                    <m:r>
                                      <a:rPr lang="zh-CN" altLang="en-US" i="1"/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/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/>
                                      <m:t>−</m:t>
                                    </m:r>
                                    <m:r>
                                      <a:rPr lang="zh-CN" altLang="en-US" i="1"/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altLang="en-US" i="1"/>
                              <m:t>𝑑𝑥</m:t>
                            </m:r>
                          </m:e>
                        </m:nary>
                        <m:r>
                          <a:rPr lang="en-US" altLang="zh-CN" i="1"/>
                          <m:t>+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i="1"/>
                            </m:ctrlPr>
                          </m:naryPr>
                          <m:sub>
                            <m:r>
                              <a:rPr lang="zh-CN" altLang="en-US" i="1"/>
                              <m:t>𝑛</m:t>
                            </m:r>
                            <m:r>
                              <a:rPr lang="en-US" altLang="zh-CN" i="1"/>
                              <m:t>=1</m:t>
                            </m:r>
                          </m:sub>
                          <m:sup>
                            <m:r>
                              <a:rPr lang="zh-CN" altLang="en-US" i="1"/>
                              <m:t>∞</m:t>
                            </m:r>
                          </m:sup>
                          <m:e>
                            <m:nary>
                              <m:naryPr>
                                <m:ctrlPr>
                                  <a:rPr lang="zh-CN" altLang="en-US" i="1"/>
                                </m:ctrlPr>
                              </m:naryPr>
                              <m:sub>
                                <m:r>
                                  <a:rPr lang="zh-CN" altLang="en-US" i="1"/>
                                  <m:t>𝑛𝑡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r>
                                      <a:rPr lang="zh-CN" altLang="en-US" i="1"/>
                                      <m:t>𝑛</m:t>
                                    </m:r>
                                    <m:r>
                                      <a:rPr lang="en-US" altLang="zh-CN" i="1"/>
                                      <m:t>+1</m:t>
                                    </m:r>
                                  </m:e>
                                </m:d>
                                <m:r>
                                  <a:rPr lang="zh-CN" altLang="en-US" i="1"/>
                                  <m:t>𝑡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zh-CN" altLang="en-US" i="1"/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zh-CN" altLang="en-US" i="1"/>
                                        </m:ctrlPr>
                                      </m:fPr>
                                      <m:num>
                                        <m:r>
                                          <a:rPr lang="zh-CN" altLang="en-US" i="1"/>
                                          <m:t>𝑥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/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/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/>
                                              <m:t>−</m:t>
                                            </m:r>
                                            <m:r>
                                              <a:rPr lang="zh-CN" altLang="en-US" i="1"/>
                                              <m:t>𝑥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CN" i="1"/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/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/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/>
                                              <m:t>−</m:t>
                                            </m:r>
                                            <m:r>
                                              <a:rPr lang="zh-CN" altLang="en-US" i="1"/>
                                              <m:t>𝑥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zh-CN" altLang="en-US" i="1"/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zh-CN" altLang="en-US" i="1"/>
                                        </m:ctrlPr>
                                      </m:fPr>
                                      <m:num>
                                        <m:r>
                                          <a:rPr lang="zh-CN" altLang="en-US" i="1"/>
                                          <m:t>𝑛𝑡</m:t>
                                        </m:r>
                                        <m:r>
                                          <a:rPr lang="zh-CN" altLang="en-US" i="1"/>
                                          <m:t>⋅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/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/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/>
                                              <m:t>−</m:t>
                                            </m:r>
                                            <m:r>
                                              <a:rPr lang="zh-CN" altLang="en-US" i="1"/>
                                              <m:t>𝑛𝑡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CN" i="1"/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en-US" i="1"/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/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/>
                                              <m:t>−</m:t>
                                            </m:r>
                                            <m:r>
                                              <a:rPr lang="zh-CN" altLang="en-US" i="1"/>
                                              <m:t>𝑛𝑡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zh-CN" altLang="en-US" i="1"/>
                                  <m:t>𝑑𝑡</m:t>
                                </m:r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zh-CN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/>
                      <m:t>≤</m:t>
                    </m:r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zh-CN" altLang="en-US" i="1"/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zh-CN" altLang="en-US" i="1"/>
                            </m:ctrlPr>
                          </m:fPr>
                          <m:num>
                            <m:r>
                              <a:rPr lang="zh-CN" altLang="en-US" i="1"/>
                              <m:t>𝑥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/>
                              <m:t>1−</m:t>
                            </m:r>
                            <m:sSup>
                              <m:sSupPr>
                                <m:ctrlPr>
                                  <a:rPr lang="zh-CN" altLang="en-US" i="1"/>
                                </m:ctrlPr>
                              </m:sSupPr>
                              <m:e>
                                <m:r>
                                  <a:rPr lang="zh-CN" altLang="en-US" i="1"/>
                                  <m:t>𝑒</m:t>
                                </m:r>
                              </m:e>
                              <m: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zh-CN" altLang="en-US" i="1"/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i="1"/>
                          <m:t>𝑑𝑥</m:t>
                        </m:r>
                      </m:e>
                    </m:nary>
                    <m:r>
                      <a:rPr lang="en-US" altLang="zh-CN" i="1"/>
                      <m:t>+</m:t>
                    </m:r>
                    <m:r>
                      <a:rPr lang="zh-CN" altLang="en-US" i="1"/>
                      <m:t>𝑡</m:t>
                    </m:r>
                    <m:nary>
                      <m:naryPr>
                        <m:ctrlPr>
                          <a:rPr lang="en-US" altLang="zh-CN" i="1"/>
                        </m:ctrlPr>
                      </m:naryPr>
                      <m:sub>
                        <m:r>
                          <a:rPr lang="en-US" altLang="zh-CN" i="1"/>
                          <m:t>0</m:t>
                        </m:r>
                      </m:sub>
                      <m:sup>
                        <m:r>
                          <a:rPr lang="zh-CN" altLang="en-US" i="1"/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/>
                                </m:ctrlPr>
                              </m:fPr>
                              <m:num>
                                <m:r>
                                  <a:rPr lang="en-US" altLang="zh-CN" i="1"/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r>
                                      <a:rPr lang="zh-CN" altLang="en-US" i="1"/>
                                      <m:t>𝑒</m:t>
                                    </m:r>
                                  </m:e>
                                  <m:sup>
                                    <m:r>
                                      <a:rPr lang="zh-CN" altLang="en-US" i="1"/>
                                      <m:t>𝑥</m:t>
                                    </m:r>
                                  </m:sup>
                                </m:sSup>
                                <m:r>
                                  <a:rPr lang="zh-CN" altLang="en-US" i="1"/>
                                  <m:t>−</m:t>
                                </m:r>
                                <m:r>
                                  <a:rPr lang="en-US" altLang="zh-CN" i="1"/>
                                  <m:t>1</m:t>
                                </m:r>
                              </m:den>
                            </m:f>
                            <m:r>
                              <a:rPr lang="zh-CN" altLang="en-US" i="1"/>
                              <m:t>−</m:t>
                            </m:r>
                            <m:f>
                              <m:fPr>
                                <m:ctrlPr>
                                  <a:rPr lang="zh-CN" altLang="en-US" i="1"/>
                                </m:ctrlPr>
                              </m:fPr>
                              <m:num>
                                <m:r>
                                  <a:rPr lang="zh-CN" altLang="en-US" i="1"/>
                                  <m:t>𝑥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zh-CN" altLang="en-US" i="1"/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zh-CN" altLang="en-US" i="1"/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zh-CN" altLang="en-US" i="1"/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i="1"/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i="1"/>
                                              <m:t>𝑥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i="1"/>
                                          <m:t>−</m:t>
                                        </m:r>
                                        <m:r>
                                          <a:rPr lang="en-US" altLang="zh-CN" i="1"/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i="1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zh-CN" altLang="en-US" i="1"/>
                          <m:t>𝑑𝑥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r>
                  <a:rPr lang="en-US" altLang="zh-CN" dirty="0"/>
                  <a:t> 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2CE6B80-36DE-CDE0-546D-F5456F969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166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E088D-81CE-BE35-7642-38AF4AA7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F0620-F4AA-2FF8-8587-E778C41AF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3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1849</Words>
  <Application>Microsoft Office PowerPoint</Application>
  <PresentationFormat>宽屏</PresentationFormat>
  <Paragraphs>185</Paragraphs>
  <Slides>38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等线 Light</vt:lpstr>
      <vt:lpstr>Arial</vt:lpstr>
      <vt:lpstr>Cambria Math</vt:lpstr>
      <vt:lpstr>Office 主题​​</vt:lpstr>
      <vt:lpstr>一元积分2026之二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黎曼引理的最一般形式</vt:lpstr>
      <vt:lpstr>PowerPoint 演示文稿</vt:lpstr>
      <vt:lpstr>线性</vt:lpstr>
      <vt:lpstr>2009年第一届全国大学生数学竞赛数学类第五题</vt:lpstr>
      <vt:lpstr>2009年第一届全国大学生数学竞赛数学类第五题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美国数学月刊12142问题</vt:lpstr>
      <vt:lpstr>美国数学月刊12142问题，加强</vt:lpstr>
      <vt:lpstr>美国数学月刊12142问题，加强</vt:lpstr>
      <vt:lpstr>美国数学月刊12229问题</vt:lpstr>
      <vt:lpstr>美国数学月刊12229问题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</dc:creator>
  <cp:lastModifiedBy>Li</cp:lastModifiedBy>
  <cp:revision>17</cp:revision>
  <dcterms:created xsi:type="dcterms:W3CDTF">2026-08-08T11:59:54Z</dcterms:created>
  <dcterms:modified xsi:type="dcterms:W3CDTF">2026-08-09T05:32:06Z</dcterms:modified>
</cp:coreProperties>
</file>